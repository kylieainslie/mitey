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4" r:id="rId3"/>
    <p:sldId id="265" r:id="rId4"/>
    <p:sldId id="258" r:id="rId5"/>
    <p:sldId id="257" r:id="rId6"/>
    <p:sldId id="317" r:id="rId7"/>
    <p:sldId id="259" r:id="rId8"/>
    <p:sldId id="262" r:id="rId9"/>
    <p:sldId id="318" r:id="rId10"/>
    <p:sldId id="260" r:id="rId11"/>
    <p:sldId id="319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8D80D-A533-9357-F76E-DEF108E66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50E3C1-8D60-1A91-68D9-67FFF4EFD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E5192-D36F-2D7E-FCB5-3B3BA626F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D01FE0-1369-7FAB-82B5-D1B3A763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DF82F1-945F-2B81-A2F6-BFA87B29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24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FE9E1-11E6-0B02-49DD-48A85EB7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2763F-832F-929A-2A80-73D8993E2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641E1D-319F-9914-7D95-EB9EC873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C8BB4-8117-6AF5-86D9-17FA4654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2FBD0B-5DE3-8244-A49B-0C2DBA9F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58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48188-B156-C122-746F-C319FA3A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800F89-0B4E-6045-BC6E-100486617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FE7908-0F1F-DABE-4902-19035283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782EA-21DD-C675-249D-00959CC9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93D474-1D1B-98C4-3821-C6A56003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5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28975-BD35-F264-8562-056F8BA6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978E0F-1D23-CE0D-259F-8D815F646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FDED15-6D4A-2127-8101-6F2193F58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52280A-09BE-067B-61F4-1E9E2009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219BC9-B963-777A-BA30-8987D69F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71F4A0-39E3-FDE9-706A-A7D75E19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71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4E532-3157-8D4F-19AF-ACD5D9DA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58246-7D4A-F376-8353-F26E8F7E0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0F885E-E2A7-B735-186D-8AA3F5AEF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3E07A6-E924-F05B-4262-5EFDAFBAC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96103B-9183-04D7-8253-CD44D78FD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5A77C9-9D3C-53A9-EE0F-3BE4A108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A15A06-AB7C-96F2-87CE-8A675547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6AA955-84AA-E0D4-73E8-A9F4DEDF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53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D75D9-E15B-E3BA-B5FD-1A52BDF5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13C104-7E4E-A2B3-7B00-19A93BB5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2F1518-CA40-276D-C0A7-F6659A40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CBDF03-3954-535B-E984-138F40FA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7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79CE81-C339-10B1-1C39-AFAC0DF1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A2BD2B-C726-6DB1-D4A1-70A4D823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122A8-C5F7-8524-5545-2B598FA2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21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84E3D-84AF-5A1F-AF96-8A7DDC50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4DA397-26E7-F55D-8AC2-3C7913A9E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458DCB-0E84-AE66-7A3F-C22A4A4DA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D05F01-1507-95A2-DF66-7CD3BC60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8EED3-3472-5E2B-29E6-04FB228F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C8688-36AB-AD3F-9BD3-C4A00858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9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78CE5-37C4-1515-3DFC-B01B48D8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BDBC52-9B0E-CC7A-0996-F279799D48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9838E6-4442-DEEF-47FE-B2D68C031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CC01B4-A6EA-5E85-2C01-67C07C7A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B1E3E-512A-EE6C-1DA3-A35DB074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BF67FF-020F-905C-ECC1-F6C90269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95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B8CEC-6DFA-7890-C78A-FD847E66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F5189D-602A-9B1D-FB65-156EE2879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2B875-6454-A28C-003F-65D6344B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DF38C-299A-D1CE-3CE4-586BC071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F5F92-699F-2483-2BF0-D54A9720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67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610330-4DDE-AF53-0161-AD798D0DF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87A095-2D9F-9FBF-A70C-24403DAEC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CBC08-14EE-B797-8A99-873C0B0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AD95B-D341-F030-44C6-AEAC6664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4BC87-9AE3-2028-D24B-000FF95A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84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7F3FBD-7E79-7BD3-034B-02952D9B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C711E-06B9-82B4-33B2-068D65842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82003-B712-F845-36B5-503C3C711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287AE-272E-44F4-A426-387AAFDF9AD1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C99DF-BF7F-F0A7-F70D-31BE62AF1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568A2D-EC23-8C0E-2567-B80648B53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AD303-9406-4433-BE17-22F65DA319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42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78F7-056E-1CD0-1488-B8FA2F2F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5F4E-B9D9-2062-3CCA-5FBEDB52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20" y="1769269"/>
            <a:ext cx="12143830" cy="11025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200" dirty="0">
                <a:latin typeface="Times New Roman"/>
                <a:ea typeface="等线"/>
                <a:cs typeface="Times New Roman"/>
              </a:rPr>
              <a:t>Estimating Serial Intervals from Outbreak Symptom Onset Data</a:t>
            </a:r>
            <a:endParaRPr lang="zh-C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263A2-60DD-E5DC-FD2C-329133354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903" y="2645570"/>
            <a:ext cx="9392194" cy="13144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f-ZA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An Extension of the </a:t>
            </a:r>
            <a:r>
              <a:rPr lang="af-ZA" altLang="zh-CN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Vink et al. </a:t>
            </a:r>
            <a:r>
              <a:rPr lang="af-ZA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Transmission-Path Framework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D8A4A9-BC0A-74F7-916A-EF593CCAF357}"/>
              </a:ext>
            </a:extLst>
          </p:cNvPr>
          <p:cNvSpPr txBox="1"/>
          <p:nvPr/>
        </p:nvSpPr>
        <p:spPr>
          <a:xfrm>
            <a:off x="3573194" y="3960020"/>
            <a:ext cx="504561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  <a:t>Supervisors: Kylie Ainslie, David Price</a:t>
            </a:r>
            <a:br>
              <a:rPr lang="en-US" altLang="zh-CN" sz="2400" dirty="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</a:br>
            <a:br>
              <a:rPr lang="en-US" altLang="zh-CN" sz="2400" dirty="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</a:br>
            <a:r>
              <a:rPr lang="en-US" altLang="zh-CN" sz="2400" dirty="0" err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  <a:t>Panyuan</a:t>
            </a:r>
            <a:r>
              <a:rPr lang="en-US" altLang="zh-CN" sz="2400" dirty="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  <a:t> (Terry) Xue</a:t>
            </a:r>
          </a:p>
          <a:p>
            <a:pPr algn="ctr"/>
            <a:r>
              <a:rPr lang="en-US" altLang="zh-CN" sz="2400" dirty="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rPr>
              <a:t>Master of Biostatistics (Enhanced)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083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CE881-B8E2-AA54-E3CA-EA863820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90"/>
            <a:ext cx="10515600" cy="1325563"/>
          </a:xfrm>
        </p:spPr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4320C2-5529-57F7-22F2-AB6D15BF3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1053"/>
            <a:ext cx="3999271" cy="18441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latin typeface="+mj-lt"/>
              </a:rPr>
              <a:t>Serial interval (SI):</a:t>
            </a:r>
            <a:r>
              <a:rPr lang="en-US" sz="1800" dirty="0">
                <a:latin typeface="+mj-lt"/>
              </a:rPr>
              <a:t> </a:t>
            </a:r>
            <a:r>
              <a:rPr lang="en-US" altLang="zh-CN" sz="1800" dirty="0">
                <a:latin typeface="+mj-lt"/>
              </a:rPr>
              <a:t>the time duration between symptom onsets of a primary case (infector) and its secondary case (</a:t>
            </a:r>
            <a:r>
              <a:rPr lang="en-US" altLang="zh-CN" sz="1800" dirty="0" err="1">
                <a:latin typeface="+mj-lt"/>
              </a:rPr>
              <a:t>infectee</a:t>
            </a:r>
            <a:r>
              <a:rPr lang="en-US" altLang="zh-CN" sz="1800" dirty="0">
                <a:latin typeface="+mj-lt"/>
              </a:rPr>
              <a:t>).</a:t>
            </a:r>
            <a:endParaRPr lang="en-US" sz="1800" dirty="0">
              <a:latin typeface="+mj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58C7C8-B17A-E962-3B27-CF9CA601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22" y="589607"/>
            <a:ext cx="5156312" cy="29019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B49277-7A24-E965-17E6-A2B6F62843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6173" y="3305175"/>
            <a:ext cx="5869742" cy="33054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5FB9035-5FEB-CB27-C007-D7F30684C9F0}"/>
                  </a:ext>
                </a:extLst>
              </p:cNvPr>
              <p:cNvSpPr txBox="1"/>
              <p:nvPr/>
            </p:nvSpPr>
            <p:spPr>
              <a:xfrm>
                <a:off x="661220" y="3530823"/>
                <a:ext cx="5434780" cy="284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b="1" dirty="0">
                    <a:latin typeface="+mj-lt"/>
                  </a:rPr>
                  <a:t>Observed data:</a:t>
                </a:r>
                <a:r>
                  <a:rPr lang="en-US" altLang="zh-CN" dirty="0">
                    <a:latin typeface="+mj-lt"/>
                  </a:rPr>
                  <a:t> Symptom onset data from outbreak</a:t>
                </a:r>
              </a:p>
              <a:p>
                <a:pPr lvl="0"/>
                <a:endParaRPr lang="en-US" altLang="zh-CN" b="1" dirty="0">
                  <a:latin typeface="+mj-lt"/>
                </a:endParaRPr>
              </a:p>
              <a:p>
                <a:pPr lvl="0"/>
                <a:r>
                  <a:rPr lang="en-US" altLang="zh-CN" b="1" dirty="0">
                    <a:latin typeface="+mj-lt"/>
                  </a:rPr>
                  <a:t>The index case-to-case (ICC) interval </a:t>
                </a:r>
                <a:r>
                  <a:rPr lang="en-US" altLang="zh-CN" dirty="0">
                    <a:latin typeface="+mj-lt"/>
                  </a:rPr>
                  <a:t>is defined as: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zh-CN" alt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altLang="zh-CN">
                          <a:latin typeface="+mj-lt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>
                          <a:latin typeface="+mj-lt"/>
                        </a:rPr>
                        <m:t>reported onset day of case </m:t>
                      </m:r>
                      <m:r>
                        <a:rPr lang="zh-CN" altLang="en-US">
                          <a:latin typeface="+mj-lt"/>
                        </a:rPr>
                        <m:t>𝑖</m:t>
                      </m:r>
                      <m:r>
                        <a:rPr lang="zh-CN" altLang="en-US">
                          <a:latin typeface="+mj-lt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>
                          <a:latin typeface="+mj-lt"/>
                        </a:rPr>
                        <m:t>reported onset day of the index case</m:t>
                      </m:r>
                      <m:r>
                        <a:rPr lang="en-US" altLang="zh-CN">
                          <a:latin typeface="+mj-lt"/>
                        </a:rPr>
                        <m:t>.</m:t>
                      </m:r>
                    </m:oMath>
                  </m:oMathPara>
                </a14:m>
                <a:endParaRPr lang="en-US" altLang="zh-CN" dirty="0">
                  <a:latin typeface="+mj-lt"/>
                </a:endParaRPr>
              </a:p>
              <a:p>
                <a:pPr lvl="0"/>
                <a:endParaRPr lang="en-US" altLang="zh-CN" dirty="0">
                  <a:latin typeface="+mj-lt"/>
                </a:endParaRPr>
              </a:p>
              <a:p>
                <a:pPr lvl="0"/>
                <a:r>
                  <a:rPr lang="en-US" altLang="zh-CN" dirty="0">
                    <a:latin typeface="+mj-lt"/>
                  </a:rPr>
                  <a:t>Where index case refers to the first recognized case in household or small population.</a:t>
                </a:r>
              </a:p>
              <a:p>
                <a:endParaRPr lang="zh-CN" altLang="en-US" dirty="0">
                  <a:latin typeface="+mj-lt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5FB9035-5FEB-CB27-C007-D7F30684C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20" y="3530823"/>
                <a:ext cx="5434780" cy="2849626"/>
              </a:xfrm>
              <a:prstGeom prst="rect">
                <a:avLst/>
              </a:prstGeom>
              <a:blipFill>
                <a:blip r:embed="rId4"/>
                <a:stretch>
                  <a:fillRect l="-897" t="-1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96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6832A-BB74-B2ED-0E60-EDCA46CD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65"/>
            <a:ext cx="10515600" cy="103796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Existing Framework (Vink et al.)</a:t>
            </a:r>
            <a:endParaRPr lang="zh-CN" altLang="en-US" sz="40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F5725E-9E14-9503-A5B8-4A31278E5ABF}"/>
              </a:ext>
            </a:extLst>
          </p:cNvPr>
          <p:cNvGrpSpPr/>
          <p:nvPr/>
        </p:nvGrpSpPr>
        <p:grpSpPr>
          <a:xfrm>
            <a:off x="1034844" y="1707723"/>
            <a:ext cx="9982201" cy="3442554"/>
            <a:chOff x="838199" y="2013406"/>
            <a:chExt cx="9982201" cy="3166369"/>
          </a:xfrm>
        </p:grpSpPr>
        <p:pic>
          <p:nvPicPr>
            <p:cNvPr id="9" name="New picture">
              <a:extLst>
                <a:ext uri="{FF2B5EF4-FFF2-40B4-BE49-F238E27FC236}">
                  <a16:creationId xmlns:a16="http://schemas.microsoft.com/office/drawing/2014/main" id="{EE46EEAA-06EF-EE6D-ADB7-C7FD8B6870CD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38199" y="2013406"/>
              <a:ext cx="9858375" cy="233875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742323-EE24-B159-115D-185536E3814A}"/>
                </a:ext>
              </a:extLst>
            </p:cNvPr>
            <p:cNvSpPr txBox="1"/>
            <p:nvPr/>
          </p:nvSpPr>
          <p:spPr>
            <a:xfrm>
              <a:off x="8633301" y="4918165"/>
              <a:ext cx="21870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zh-CN" sz="1100" i="1" dirty="0">
                  <a:solidFill>
                    <a:schemeClr val="bg2">
                      <a:lumMod val="50000"/>
                    </a:schemeClr>
                  </a:solidFill>
                </a:rPr>
                <a:t>Figure source: Vink et al. (2014)</a:t>
              </a:r>
              <a:endParaRPr lang="zh-CN" altLang="en-US" sz="1100" i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57F7C5-4449-FA00-EB2F-F4FC0F7A8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844" y="4663218"/>
            <a:ext cx="9858375" cy="128330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altLang="zh-CN" sz="20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zh-CN" sz="2000" b="1" dirty="0"/>
              <a:t>Quantity of interest: </a:t>
            </a:r>
            <a:r>
              <a:rPr lang="en-US" altLang="zh-CN" sz="2000" dirty="0"/>
              <a:t>the mean and standard deviation of the underlying SI distribution, represented by the </a:t>
            </a:r>
            <a:r>
              <a:rPr lang="en-US" altLang="zh-CN" sz="2000" dirty="0">
                <a:solidFill>
                  <a:schemeClr val="accent1"/>
                </a:solidFill>
              </a:rPr>
              <a:t>Primary–Secondary transmission path</a:t>
            </a:r>
            <a:r>
              <a:rPr lang="en-US" altLang="zh-CN" sz="2000" dirty="0"/>
              <a:t>.</a:t>
            </a:r>
            <a:endParaRPr lang="en-US" altLang="zh-CN" sz="1800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94DA3B-D947-B77B-A51B-4370B8620BBD}"/>
              </a:ext>
            </a:extLst>
          </p:cNvPr>
          <p:cNvSpPr txBox="1"/>
          <p:nvPr/>
        </p:nvSpPr>
        <p:spPr>
          <a:xfrm>
            <a:off x="1034844" y="1046095"/>
            <a:ext cx="80522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+mj-lt"/>
              </a:rPr>
              <a:t>What latent transmission path structure lies behind an observed ICC interval?</a:t>
            </a:r>
          </a:p>
          <a:p>
            <a:endParaRPr lang="zh-CN" altLang="en-US" sz="2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1729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B4382-9755-EAF1-A093-BFDA055A3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8" y="105483"/>
            <a:ext cx="10515600" cy="664175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Lognormal Extension &amp; Path update in Mixture model</a:t>
            </a:r>
            <a:endParaRPr lang="zh-CN" alt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3DAE75-1405-0ECB-037B-BA9FEAA06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188" y="733802"/>
            <a:ext cx="5918947" cy="347828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C14DFA8-E779-9E13-D68A-21C8801A8FFE}"/>
              </a:ext>
            </a:extLst>
          </p:cNvPr>
          <p:cNvGrpSpPr/>
          <p:nvPr/>
        </p:nvGrpSpPr>
        <p:grpSpPr>
          <a:xfrm>
            <a:off x="9227372" y="1396888"/>
            <a:ext cx="2603958" cy="2030801"/>
            <a:chOff x="9553449" y="2701420"/>
            <a:chExt cx="2716480" cy="267534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E20C832-6AD8-98FC-EEDB-554FD6BD6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53449" y="2967846"/>
              <a:ext cx="2284518" cy="2408923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43EFEBF-496E-710E-9D30-6FC1C95096BF}"/>
                </a:ext>
              </a:extLst>
            </p:cNvPr>
            <p:cNvSpPr txBox="1"/>
            <p:nvPr/>
          </p:nvSpPr>
          <p:spPr>
            <a:xfrm>
              <a:off x="10815783" y="2701420"/>
              <a:ext cx="1454146" cy="471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Lognormal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E99B5ED-F0AC-6654-DD08-DDD614052255}"/>
              </a:ext>
            </a:extLst>
          </p:cNvPr>
          <p:cNvGrpSpPr/>
          <p:nvPr/>
        </p:nvGrpSpPr>
        <p:grpSpPr>
          <a:xfrm>
            <a:off x="5663659" y="1288027"/>
            <a:ext cx="2603959" cy="2140974"/>
            <a:chOff x="6184143" y="1839409"/>
            <a:chExt cx="2284519" cy="240892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DA243FF-8DE1-910C-60CF-9ED06186B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143" y="1839409"/>
              <a:ext cx="2284519" cy="2408923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3994EB6-8202-B168-1AE4-69B266D262CE}"/>
                </a:ext>
              </a:extLst>
            </p:cNvPr>
            <p:cNvSpPr txBox="1"/>
            <p:nvPr/>
          </p:nvSpPr>
          <p:spPr>
            <a:xfrm>
              <a:off x="7655619" y="1839409"/>
              <a:ext cx="8130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accent1"/>
                  </a:solidFill>
                  <a:latin typeface="+mj-lt"/>
                </a:rPr>
                <a:t>Normal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F33F81C-02F9-E5D8-26F7-8D5780F9629B}"/>
              </a:ext>
            </a:extLst>
          </p:cNvPr>
          <p:cNvSpPr/>
          <p:nvPr/>
        </p:nvSpPr>
        <p:spPr>
          <a:xfrm>
            <a:off x="3235722" y="5594915"/>
            <a:ext cx="369454" cy="194299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F4D0B5D-E8BB-204A-62D2-8C6934620544}"/>
              </a:ext>
            </a:extLst>
          </p:cNvPr>
          <p:cNvSpPr/>
          <p:nvPr/>
        </p:nvSpPr>
        <p:spPr>
          <a:xfrm>
            <a:off x="2963547" y="2034253"/>
            <a:ext cx="2382095" cy="147484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EC4CCF9-16A1-CE2D-7548-8AA3AE160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14619"/>
              </p:ext>
            </p:extLst>
          </p:nvPr>
        </p:nvGraphicFramePr>
        <p:xfrm>
          <a:off x="1350032" y="4445711"/>
          <a:ext cx="9491935" cy="2028623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2102961">
                  <a:extLst>
                    <a:ext uri="{9D8B030D-6E8A-4147-A177-3AD203B41FA5}">
                      <a16:colId xmlns:a16="http://schemas.microsoft.com/office/drawing/2014/main" val="1642015894"/>
                    </a:ext>
                  </a:extLst>
                </a:gridCol>
                <a:gridCol w="1545032">
                  <a:extLst>
                    <a:ext uri="{9D8B030D-6E8A-4147-A177-3AD203B41FA5}">
                      <a16:colId xmlns:a16="http://schemas.microsoft.com/office/drawing/2014/main" val="3229603166"/>
                    </a:ext>
                  </a:extLst>
                </a:gridCol>
                <a:gridCol w="1959903">
                  <a:extLst>
                    <a:ext uri="{9D8B030D-6E8A-4147-A177-3AD203B41FA5}">
                      <a16:colId xmlns:a16="http://schemas.microsoft.com/office/drawing/2014/main" val="1103467291"/>
                    </a:ext>
                  </a:extLst>
                </a:gridCol>
                <a:gridCol w="1920561">
                  <a:extLst>
                    <a:ext uri="{9D8B030D-6E8A-4147-A177-3AD203B41FA5}">
                      <a16:colId xmlns:a16="http://schemas.microsoft.com/office/drawing/2014/main" val="1500583743"/>
                    </a:ext>
                  </a:extLst>
                </a:gridCol>
                <a:gridCol w="1963478">
                  <a:extLst>
                    <a:ext uri="{9D8B030D-6E8A-4147-A177-3AD203B41FA5}">
                      <a16:colId xmlns:a16="http://schemas.microsoft.com/office/drawing/2014/main" val="3395887851"/>
                    </a:ext>
                  </a:extLst>
                </a:gridCol>
              </a:tblGrid>
              <a:tr h="2834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u="none" strike="noStrike" dirty="0">
                          <a:effectLst/>
                          <a:latin typeface="+mj-lt"/>
                        </a:rPr>
                        <a:t>Transmission path</a:t>
                      </a:r>
                      <a:endParaRPr 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u="none" strike="noStrike">
                          <a:effectLst/>
                          <a:latin typeface="+mj-lt"/>
                        </a:rPr>
                        <a:t>Co-primary (CP)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u="none" strike="noStrike" dirty="0">
                          <a:effectLst/>
                          <a:latin typeface="+mj-lt"/>
                        </a:rPr>
                        <a:t>Primary-secondary (PS)</a:t>
                      </a:r>
                      <a:endParaRPr 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u="none" strike="noStrike">
                          <a:effectLst/>
                          <a:latin typeface="+mj-lt"/>
                        </a:rPr>
                        <a:t>Primary-tertiary (PT)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b="1" u="none" strike="noStrike" dirty="0">
                          <a:effectLst/>
                          <a:latin typeface="+mj-lt"/>
                        </a:rPr>
                        <a:t>Primary-quaternary (PQ)</a:t>
                      </a:r>
                      <a:endParaRPr 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6489867"/>
                  </a:ext>
                </a:extLst>
              </a:tr>
              <a:tr h="8502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Ideal construction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  <a:latin typeface="+mj-lt"/>
                        </a:rPr>
                        <a:t>∣X₁ − X₂∣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  <a:latin typeface="+mj-lt"/>
                        </a:rPr>
                        <a:t>X₁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  <a:latin typeface="+mj-lt"/>
                        </a:rPr>
                        <a:t>X₁ + X₂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  <a:latin typeface="+mj-lt"/>
                        </a:rPr>
                        <a:t> X₁ + X₂ + X₃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1305106"/>
                  </a:ext>
                </a:extLst>
              </a:tr>
              <a:tr h="5966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Working formulation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Half-Normal approximation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Exact Log-Normal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Fenton–Wilkinson approximation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Fenton–Wilkinson approximation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0035385"/>
                  </a:ext>
                </a:extLst>
              </a:tr>
              <a:tr h="2983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Working distribution</a:t>
                      </a:r>
                      <a:endParaRPr lang="zh-CN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∣N(0, 2σ²)∣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 Lognormal(μ, σ²)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>
                          <a:effectLst/>
                          <a:latin typeface="+mj-lt"/>
                        </a:rPr>
                        <a:t> Lognormal(2μ, 2σ²)</a:t>
                      </a:r>
                      <a:endParaRPr lang="zh-CN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400" u="none" strike="noStrike" dirty="0">
                          <a:effectLst/>
                          <a:latin typeface="+mj-lt"/>
                        </a:rPr>
                        <a:t> Lognormal(3μ, 3σ²)</a:t>
                      </a:r>
                      <a:endParaRPr 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8166636"/>
                  </a:ext>
                </a:extLst>
              </a:tr>
            </a:tbl>
          </a:graphicData>
        </a:graphic>
      </p:graphicFrame>
      <p:sp>
        <p:nvSpPr>
          <p:cNvPr id="17" name="箭头: 右 16">
            <a:extLst>
              <a:ext uri="{FF2B5EF4-FFF2-40B4-BE49-F238E27FC236}">
                <a16:creationId xmlns:a16="http://schemas.microsoft.com/office/drawing/2014/main" id="{F854A389-937F-E51C-8EE6-4A49D494BD1A}"/>
              </a:ext>
            </a:extLst>
          </p:cNvPr>
          <p:cNvSpPr/>
          <p:nvPr/>
        </p:nvSpPr>
        <p:spPr>
          <a:xfrm>
            <a:off x="8072695" y="2090509"/>
            <a:ext cx="809799" cy="182455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9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9AA8C-47AA-4D65-F587-366024B94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18256"/>
            <a:ext cx="10515600" cy="1023964"/>
          </a:xfrm>
        </p:spPr>
        <p:txBody>
          <a:bodyPr/>
          <a:lstStyle/>
          <a:p>
            <a:r>
              <a:rPr lang="en-US" altLang="zh-CN" dirty="0"/>
              <a:t>Simulation design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E4DC36-2F92-7478-E1AC-253E5E52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8" t="6224" r="4115" b="2254"/>
          <a:stretch>
            <a:fillRect/>
          </a:stretch>
        </p:blipFill>
        <p:spPr>
          <a:xfrm>
            <a:off x="130123" y="1887941"/>
            <a:ext cx="4259757" cy="397822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F58BD25-4218-46AE-9B16-4D84A903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95"/>
          <a:stretch>
            <a:fillRect/>
          </a:stretch>
        </p:blipFill>
        <p:spPr>
          <a:xfrm>
            <a:off x="7141905" y="1974632"/>
            <a:ext cx="5050095" cy="410796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E9CCD4D-5A40-D41A-FEA6-6B22201B74C2}"/>
              </a:ext>
            </a:extLst>
          </p:cNvPr>
          <p:cNvSpPr txBox="1"/>
          <p:nvPr/>
        </p:nvSpPr>
        <p:spPr>
          <a:xfrm>
            <a:off x="3082251" y="3659282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</a:rPr>
              <a:t>Low-dispersion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7BFCFC-0AE0-D7A5-48B8-FE901091D8A3}"/>
              </a:ext>
            </a:extLst>
          </p:cNvPr>
          <p:cNvSpPr txBox="1"/>
          <p:nvPr/>
        </p:nvSpPr>
        <p:spPr>
          <a:xfrm>
            <a:off x="1807569" y="1200305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j-lt"/>
              </a:rPr>
              <a:t>SI distribution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0A52C7-0DEB-A1C0-FCB0-800FC30F2813}"/>
              </a:ext>
            </a:extLst>
          </p:cNvPr>
          <p:cNvSpPr txBox="1"/>
          <p:nvPr/>
        </p:nvSpPr>
        <p:spPr>
          <a:xfrm>
            <a:off x="2806840" y="4923784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latin typeface="+mj-lt"/>
              </a:rPr>
              <a:t>Moderate dispersion</a:t>
            </a:r>
            <a:endParaRPr lang="en-US" altLang="zh-CN" dirty="0">
              <a:latin typeface="+mj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627400-C848-7EF7-068F-AD76660362B6}"/>
              </a:ext>
            </a:extLst>
          </p:cNvPr>
          <p:cNvSpPr txBox="1"/>
          <p:nvPr/>
        </p:nvSpPr>
        <p:spPr>
          <a:xfrm>
            <a:off x="3035130" y="2230692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</a:rPr>
              <a:t>High -</a:t>
            </a:r>
            <a:r>
              <a:rPr lang="zh-CN" altLang="zh-CN" dirty="0">
                <a:latin typeface="+mj-lt"/>
              </a:rPr>
              <a:t>dispersion</a:t>
            </a:r>
            <a:endParaRPr lang="en-US" altLang="zh-CN" dirty="0">
              <a:latin typeface="+mj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56C0D0-B4E6-8CCE-5684-B81C2D86630D}"/>
              </a:ext>
            </a:extLst>
          </p:cNvPr>
          <p:cNvSpPr txBox="1"/>
          <p:nvPr/>
        </p:nvSpPr>
        <p:spPr>
          <a:xfrm>
            <a:off x="9851887" y="347461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</a:rPr>
              <a:t>CP-heavy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49729F-0B37-4F70-00EA-7891BC872AD7}"/>
              </a:ext>
            </a:extLst>
          </p:cNvPr>
          <p:cNvSpPr txBox="1"/>
          <p:nvPr/>
        </p:nvSpPr>
        <p:spPr>
          <a:xfrm>
            <a:off x="7823123" y="1095748"/>
            <a:ext cx="33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+mj-lt"/>
              </a:rPr>
              <a:t>Path weights for Mixture Model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848F3B-EF6E-0903-855D-37AB34228BC0}"/>
              </a:ext>
            </a:extLst>
          </p:cNvPr>
          <p:cNvSpPr txBox="1"/>
          <p:nvPr/>
        </p:nvSpPr>
        <p:spPr>
          <a:xfrm>
            <a:off x="9385160" y="4718540"/>
            <a:ext cx="2481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</a:rPr>
              <a:t>Higher-generation heavy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4BF204-CCDE-46DD-C1D1-35EB3194BEF0}"/>
              </a:ext>
            </a:extLst>
          </p:cNvPr>
          <p:cNvSpPr txBox="1"/>
          <p:nvPr/>
        </p:nvSpPr>
        <p:spPr>
          <a:xfrm>
            <a:off x="9388749" y="2046026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</a:rPr>
              <a:t>Baseline (PS dominant)</a:t>
            </a:r>
          </a:p>
        </p:txBody>
      </p:sp>
      <p:sp>
        <p:nvSpPr>
          <p:cNvPr id="55" name="右大括号 54">
            <a:extLst>
              <a:ext uri="{FF2B5EF4-FFF2-40B4-BE49-F238E27FC236}">
                <a16:creationId xmlns:a16="http://schemas.microsoft.com/office/drawing/2014/main" id="{10627B6F-C537-CD60-FF4B-843F0E2D60D5}"/>
              </a:ext>
            </a:extLst>
          </p:cNvPr>
          <p:cNvSpPr/>
          <p:nvPr/>
        </p:nvSpPr>
        <p:spPr>
          <a:xfrm>
            <a:off x="4889217" y="2616768"/>
            <a:ext cx="335003" cy="267634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j-lt"/>
            </a:endParaRPr>
          </a:p>
        </p:txBody>
      </p:sp>
      <p:sp>
        <p:nvSpPr>
          <p:cNvPr id="57" name="右大括号 56">
            <a:extLst>
              <a:ext uri="{FF2B5EF4-FFF2-40B4-BE49-F238E27FC236}">
                <a16:creationId xmlns:a16="http://schemas.microsoft.com/office/drawing/2014/main" id="{BF5B7146-06F3-83A6-43B2-21376726DD57}"/>
              </a:ext>
            </a:extLst>
          </p:cNvPr>
          <p:cNvSpPr/>
          <p:nvPr/>
        </p:nvSpPr>
        <p:spPr>
          <a:xfrm rot="10800000">
            <a:off x="6687316" y="2599980"/>
            <a:ext cx="335003" cy="279793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j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A48102A-F52E-C8F9-50D2-FB8994D5C015}"/>
              </a:ext>
            </a:extLst>
          </p:cNvPr>
          <p:cNvSpPr txBox="1"/>
          <p:nvPr/>
        </p:nvSpPr>
        <p:spPr>
          <a:xfrm>
            <a:off x="5303157" y="3568822"/>
            <a:ext cx="13292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latin typeface="+mj-lt"/>
              </a:rPr>
              <a:t>3×3</a:t>
            </a:r>
          </a:p>
          <a:p>
            <a:pPr algn="ctr"/>
            <a:r>
              <a:rPr lang="en-US" altLang="zh-CN" sz="2400" dirty="0">
                <a:latin typeface="+mj-lt"/>
              </a:rPr>
              <a:t>scenarios</a:t>
            </a:r>
            <a:endParaRPr lang="zh-CN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429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2DFF8D3-3ACC-A377-C8BE-FCEBAA578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" t="10782" r="3042" b="10239"/>
          <a:stretch>
            <a:fillRect/>
          </a:stretch>
        </p:blipFill>
        <p:spPr>
          <a:xfrm>
            <a:off x="481781" y="1180537"/>
            <a:ext cx="11559069" cy="546607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5AD8A905-82D3-92CD-0885-A32F64DE03A4}"/>
              </a:ext>
            </a:extLst>
          </p:cNvPr>
          <p:cNvSpPr txBox="1">
            <a:spLocks/>
          </p:cNvSpPr>
          <p:nvPr/>
        </p:nvSpPr>
        <p:spPr>
          <a:xfrm>
            <a:off x="651387" y="18256"/>
            <a:ext cx="10515600" cy="1023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Simulation design (9 scenarios)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12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7233C-82A1-3FBD-3C3A-42C1F682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EM algorithm (computational optimization)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ADF69C9-96F1-CD0A-947C-EA9A77C5F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58" y="1101213"/>
            <a:ext cx="9879443" cy="55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6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F2DB2-3526-E24D-076E-3012A7E6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8"/>
            <a:ext cx="10515600" cy="48044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Simulation result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CCC0E-49A4-08CC-2E60-A06504C82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1" y="970933"/>
            <a:ext cx="5689089" cy="56890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FAB92C-BA39-01C5-41E9-4CDD533E1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445" y="970933"/>
            <a:ext cx="5689089" cy="568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5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5ECEFBC-54B0-B93A-9915-35145C5F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414"/>
            <a:ext cx="10515600" cy="480448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Simulation result</a:t>
            </a:r>
            <a:endParaRPr lang="zh-CN" altLang="en-US" sz="36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61D0F91-069C-5058-30BF-D88179A65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55394"/>
              </p:ext>
            </p:extLst>
          </p:nvPr>
        </p:nvGraphicFramePr>
        <p:xfrm>
          <a:off x="1105713" y="2627020"/>
          <a:ext cx="9478291" cy="1603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70568">
                  <a:extLst>
                    <a:ext uri="{9D8B030D-6E8A-4147-A177-3AD203B41FA5}">
                      <a16:colId xmlns:a16="http://schemas.microsoft.com/office/drawing/2014/main" val="1174341346"/>
                    </a:ext>
                  </a:extLst>
                </a:gridCol>
                <a:gridCol w="1739706">
                  <a:extLst>
                    <a:ext uri="{9D8B030D-6E8A-4147-A177-3AD203B41FA5}">
                      <a16:colId xmlns:a16="http://schemas.microsoft.com/office/drawing/2014/main" val="1511084854"/>
                    </a:ext>
                  </a:extLst>
                </a:gridCol>
                <a:gridCol w="1118890">
                  <a:extLst>
                    <a:ext uri="{9D8B030D-6E8A-4147-A177-3AD203B41FA5}">
                      <a16:colId xmlns:a16="http://schemas.microsoft.com/office/drawing/2014/main" val="1252025828"/>
                    </a:ext>
                  </a:extLst>
                </a:gridCol>
                <a:gridCol w="2019962">
                  <a:extLst>
                    <a:ext uri="{9D8B030D-6E8A-4147-A177-3AD203B41FA5}">
                      <a16:colId xmlns:a16="http://schemas.microsoft.com/office/drawing/2014/main" val="3460030012"/>
                    </a:ext>
                  </a:extLst>
                </a:gridCol>
                <a:gridCol w="1243055">
                  <a:extLst>
                    <a:ext uri="{9D8B030D-6E8A-4147-A177-3AD203B41FA5}">
                      <a16:colId xmlns:a16="http://schemas.microsoft.com/office/drawing/2014/main" val="618315113"/>
                    </a:ext>
                  </a:extLst>
                </a:gridCol>
                <a:gridCol w="1243055">
                  <a:extLst>
                    <a:ext uri="{9D8B030D-6E8A-4147-A177-3AD203B41FA5}">
                      <a16:colId xmlns:a16="http://schemas.microsoft.com/office/drawing/2014/main" val="1139303923"/>
                    </a:ext>
                  </a:extLst>
                </a:gridCol>
                <a:gridCol w="1243055">
                  <a:extLst>
                    <a:ext uri="{9D8B030D-6E8A-4147-A177-3AD203B41FA5}">
                      <a16:colId xmlns:a16="http://schemas.microsoft.com/office/drawing/2014/main" val="511678178"/>
                    </a:ext>
                  </a:extLst>
                </a:gridCol>
              </a:tblGrid>
              <a:tr h="211747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1" u="none" strike="noStrike" dirty="0">
                          <a:effectLst/>
                          <a:latin typeface="+mj-lt"/>
                        </a:rPr>
                        <a:t>True SI Mean=2 and SD =2 (N=200; 100 repetitions; 300 iterations)</a:t>
                      </a:r>
                      <a:endParaRPr 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058341"/>
                  </a:ext>
                </a:extLst>
              </a:tr>
              <a:tr h="211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Scenario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Profile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Parameter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Avg. estimate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Bias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RMSE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Convergence (%)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2937436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Baseline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2.3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0.48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2383046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Baseline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1.46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-0.54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0.67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21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22711562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5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CP-heavy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2.38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0.38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0.54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19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6608324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5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CP-heavy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1.53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-0.47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0.61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19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48285"/>
                  </a:ext>
                </a:extLst>
              </a:tr>
              <a:tr h="1660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6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Higher-generation-heavy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2.77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0.77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0.92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1924689"/>
                  </a:ext>
                </a:extLst>
              </a:tr>
              <a:tr h="1966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6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Higher-generation-heavy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1.93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-0.07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0.54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7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229169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EC2AA80-6998-14B4-3D3E-A79298BD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28575"/>
              </p:ext>
            </p:extLst>
          </p:nvPr>
        </p:nvGraphicFramePr>
        <p:xfrm>
          <a:off x="1105713" y="788074"/>
          <a:ext cx="9478291" cy="1655733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88555">
                  <a:extLst>
                    <a:ext uri="{9D8B030D-6E8A-4147-A177-3AD203B41FA5}">
                      <a16:colId xmlns:a16="http://schemas.microsoft.com/office/drawing/2014/main" val="326920928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3644391618"/>
                    </a:ext>
                  </a:extLst>
                </a:gridCol>
                <a:gridCol w="1218544">
                  <a:extLst>
                    <a:ext uri="{9D8B030D-6E8A-4147-A177-3AD203B41FA5}">
                      <a16:colId xmlns:a16="http://schemas.microsoft.com/office/drawing/2014/main" val="1812968749"/>
                    </a:ext>
                  </a:extLst>
                </a:gridCol>
                <a:gridCol w="1524481">
                  <a:extLst>
                    <a:ext uri="{9D8B030D-6E8A-4147-A177-3AD203B41FA5}">
                      <a16:colId xmlns:a16="http://schemas.microsoft.com/office/drawing/2014/main" val="861452016"/>
                    </a:ext>
                  </a:extLst>
                </a:gridCol>
                <a:gridCol w="1325635">
                  <a:extLst>
                    <a:ext uri="{9D8B030D-6E8A-4147-A177-3AD203B41FA5}">
                      <a16:colId xmlns:a16="http://schemas.microsoft.com/office/drawing/2014/main" val="2677568911"/>
                    </a:ext>
                  </a:extLst>
                </a:gridCol>
                <a:gridCol w="1325635">
                  <a:extLst>
                    <a:ext uri="{9D8B030D-6E8A-4147-A177-3AD203B41FA5}">
                      <a16:colId xmlns:a16="http://schemas.microsoft.com/office/drawing/2014/main" val="2934477806"/>
                    </a:ext>
                  </a:extLst>
                </a:gridCol>
                <a:gridCol w="1325635">
                  <a:extLst>
                    <a:ext uri="{9D8B030D-6E8A-4147-A177-3AD203B41FA5}">
                      <a16:colId xmlns:a16="http://schemas.microsoft.com/office/drawing/2014/main" val="2362725867"/>
                    </a:ext>
                  </a:extLst>
                </a:gridCol>
              </a:tblGrid>
              <a:tr h="211747">
                <a:tc gridSpan="7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True SI Mean=15 and SD =3 (N=200; 100 repetitions; 50 iterations)</a:t>
                      </a:r>
                      <a:endParaRPr lang="zh-CN" altLang="en-US" sz="1100" b="1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58022"/>
                  </a:ext>
                </a:extLst>
              </a:tr>
              <a:tr h="2117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Scenario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Profile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Parameter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Avg. estimate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Bias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RMSE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Convergence (%)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9156532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Baseline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Mean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15.06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0.49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99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768030"/>
                  </a:ext>
                </a:extLst>
              </a:tr>
              <a:tr h="2016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Baseline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SD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3.1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0.36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99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8252136"/>
                  </a:ext>
                </a:extLst>
              </a:tr>
              <a:tr h="19063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CP-heavy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Mean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15.11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0.11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0.61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98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5002208"/>
                  </a:ext>
                </a:extLst>
              </a:tr>
              <a:tr h="2839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CP-heavy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SD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3.09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0.09</a:t>
                      </a:r>
                      <a:endParaRPr lang="zh-CN" altLang="en-US" sz="1100" b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0.39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b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98</a:t>
                      </a:r>
                      <a:endParaRPr lang="zh-CN" altLang="en-US" sz="1100" b="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9171275"/>
                  </a:ext>
                </a:extLst>
              </a:tr>
              <a:tr h="15731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Higher-generation-heavy</a:t>
                      </a:r>
                      <a:endParaRPr lang="zh-CN" altLang="en-US" sz="110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Mean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15.14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0.14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0.72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5203740"/>
                  </a:ext>
                </a:extLst>
              </a:tr>
              <a:tr h="162879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100" u="none" strike="noStrike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Higher-generation-heavy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SD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3.16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0.16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0.52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altLang="zh-CN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96</a:t>
                      </a:r>
                      <a:endParaRPr lang="zh-CN" altLang="en-US" sz="110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291875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84138C7-D6A4-69F7-CED4-180BF78E4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900878"/>
              </p:ext>
            </p:extLst>
          </p:nvPr>
        </p:nvGraphicFramePr>
        <p:xfrm>
          <a:off x="1105713" y="4414193"/>
          <a:ext cx="9478288" cy="15871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70571">
                  <a:extLst>
                    <a:ext uri="{9D8B030D-6E8A-4147-A177-3AD203B41FA5}">
                      <a16:colId xmlns:a16="http://schemas.microsoft.com/office/drawing/2014/main" val="2397907500"/>
                    </a:ext>
                  </a:extLst>
                </a:gridCol>
                <a:gridCol w="2063062">
                  <a:extLst>
                    <a:ext uri="{9D8B030D-6E8A-4147-A177-3AD203B41FA5}">
                      <a16:colId xmlns:a16="http://schemas.microsoft.com/office/drawing/2014/main" val="1907038735"/>
                    </a:ext>
                  </a:extLst>
                </a:gridCol>
                <a:gridCol w="1308931">
                  <a:extLst>
                    <a:ext uri="{9D8B030D-6E8A-4147-A177-3AD203B41FA5}">
                      <a16:colId xmlns:a16="http://schemas.microsoft.com/office/drawing/2014/main" val="653959097"/>
                    </a:ext>
                  </a:extLst>
                </a:gridCol>
                <a:gridCol w="1308931">
                  <a:extLst>
                    <a:ext uri="{9D8B030D-6E8A-4147-A177-3AD203B41FA5}">
                      <a16:colId xmlns:a16="http://schemas.microsoft.com/office/drawing/2014/main" val="2959139144"/>
                    </a:ext>
                  </a:extLst>
                </a:gridCol>
                <a:gridCol w="1308931">
                  <a:extLst>
                    <a:ext uri="{9D8B030D-6E8A-4147-A177-3AD203B41FA5}">
                      <a16:colId xmlns:a16="http://schemas.microsoft.com/office/drawing/2014/main" val="1304263852"/>
                    </a:ext>
                  </a:extLst>
                </a:gridCol>
                <a:gridCol w="1308931">
                  <a:extLst>
                    <a:ext uri="{9D8B030D-6E8A-4147-A177-3AD203B41FA5}">
                      <a16:colId xmlns:a16="http://schemas.microsoft.com/office/drawing/2014/main" val="2333481870"/>
                    </a:ext>
                  </a:extLst>
                </a:gridCol>
                <a:gridCol w="1308931">
                  <a:extLst>
                    <a:ext uri="{9D8B030D-6E8A-4147-A177-3AD203B41FA5}">
                      <a16:colId xmlns:a16="http://schemas.microsoft.com/office/drawing/2014/main" val="2475565301"/>
                    </a:ext>
                  </a:extLst>
                </a:gridCol>
              </a:tblGrid>
              <a:tr h="200025"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1" u="none" strike="noStrike" dirty="0">
                          <a:effectLst/>
                          <a:latin typeface="+mj-lt"/>
                        </a:rPr>
                        <a:t>True SI Mean=5 and SD =10 (N=200; 100 repetitions; 300 iterations)</a:t>
                      </a:r>
                      <a:endParaRPr 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757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Scenario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Profile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Parameter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Avg. estimate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Bias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RMSE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Convergence (%)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3111909"/>
                  </a:ext>
                </a:extLst>
              </a:tr>
              <a:tr h="22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7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Baseline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3.47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-1.53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2.03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56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1992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Baseline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3.89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-6.11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6.58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56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25791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8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CP-heavy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3.42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-1.58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2.28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58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62941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CP-heavy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3.7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-6.3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6.92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58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49725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Higher-generation-heavy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Mean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4.99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-0.01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2.34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38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19413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Higher-generation-heavy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SD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6.21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-3.79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>
                          <a:effectLst/>
                          <a:latin typeface="+mj-lt"/>
                        </a:rPr>
                        <a:t>5.63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u="none" strike="noStrike" dirty="0">
                          <a:effectLst/>
                          <a:latin typeface="+mj-lt"/>
                        </a:rPr>
                        <a:t>38</a:t>
                      </a:r>
                      <a:endParaRPr 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883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97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6A2BA-A39D-A01F-7675-E0946094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7765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Data analysis (Scabies dataset)</a:t>
            </a:r>
            <a:endParaRPr lang="zh-CN" altLang="en-US" sz="3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379930-8EFA-BA1E-1309-2D8E590C0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622223"/>
              </p:ext>
            </p:extLst>
          </p:nvPr>
        </p:nvGraphicFramePr>
        <p:xfrm>
          <a:off x="851617" y="637765"/>
          <a:ext cx="10515600" cy="1524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1619210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867894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106200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929698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9420450"/>
                    </a:ext>
                  </a:extLst>
                </a:gridCol>
              </a:tblGrid>
              <a:tr h="27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Normal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Lognormal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Normal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Lognormal 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792389"/>
                  </a:ext>
                </a:extLst>
              </a:tr>
              <a:tr h="27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Akunzirwe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122.9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125.438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26.9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30.989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698051"/>
                  </a:ext>
                </a:extLst>
              </a:tr>
              <a:tr h="27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Ariza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98.4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98.440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9.011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733998"/>
                  </a:ext>
                </a:extLst>
              </a:tr>
              <a:tr h="27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Kaburi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167.3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167.370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10.731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765545"/>
                  </a:ext>
                </a:extLst>
              </a:tr>
              <a:tr h="275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Tjon-Kon-Fat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110.7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>
                          <a:latin typeface="+mj-lt"/>
                        </a:rPr>
                        <a:t>112.321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16.1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>
                          <a:latin typeface="+mj-lt"/>
                        </a:rPr>
                        <a:t>15.165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791696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5D9AEF2A-6C4C-F040-06D0-38E4DC2FD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090" y="2675242"/>
            <a:ext cx="3227650" cy="42143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0C3B354-C059-EE49-86DE-7B15B43A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98" y="2577754"/>
            <a:ext cx="3410878" cy="421438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A8D76FA-10CE-7646-B2CC-649D842FD97B}"/>
              </a:ext>
            </a:extLst>
          </p:cNvPr>
          <p:cNvSpPr txBox="1"/>
          <p:nvPr/>
        </p:nvSpPr>
        <p:spPr>
          <a:xfrm>
            <a:off x="1546100" y="2265343"/>
            <a:ext cx="3441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+mj-lt"/>
              </a:rPr>
              <a:t>Model fits of lognormal SI to ICC data 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108211-947C-D879-DAC3-433F4F057AF6}"/>
              </a:ext>
            </a:extLst>
          </p:cNvPr>
          <p:cNvSpPr txBox="1"/>
          <p:nvPr/>
        </p:nvSpPr>
        <p:spPr>
          <a:xfrm>
            <a:off x="9697276" y="6371302"/>
            <a:ext cx="3765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/>
              <a:t>Figure source: Ainslie et al. (2025)</a:t>
            </a:r>
            <a:endParaRPr lang="zh-CN" altLang="en-US" sz="1200" i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76F7C7-B7F5-BBF3-C758-41B9C3006675}"/>
              </a:ext>
            </a:extLst>
          </p:cNvPr>
          <p:cNvSpPr txBox="1"/>
          <p:nvPr/>
        </p:nvSpPr>
        <p:spPr>
          <a:xfrm>
            <a:off x="6518201" y="2240925"/>
            <a:ext cx="3179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+mj-lt"/>
              </a:rPr>
              <a:t>Model fits of normal SI to ICC data </a:t>
            </a:r>
            <a:endParaRPr lang="zh-CN" alt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011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C1E24-BFD9-653A-EAF6-B3EFD43A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6"/>
            <a:ext cx="10515600" cy="1325563"/>
          </a:xfrm>
        </p:spPr>
        <p:txBody>
          <a:bodyPr/>
          <a:lstStyle/>
          <a:p>
            <a:r>
              <a:rPr lang="en-US" altLang="zh-CN" dirty="0"/>
              <a:t>Code Implementation (</a:t>
            </a:r>
            <a:r>
              <a:rPr lang="en-US" altLang="zh-CN" dirty="0" err="1"/>
              <a:t>mitey</a:t>
            </a:r>
            <a:r>
              <a:rPr lang="en-US" altLang="zh-CN" dirty="0"/>
              <a:t> package)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68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A6DE9-7CEC-6F0E-BC40-64E8420E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Limitations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2512A-D960-88C4-3B45-83C4FB063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709"/>
            <a:ext cx="11107994" cy="1445801"/>
          </a:xfrm>
        </p:spPr>
        <p:txBody>
          <a:bodyPr/>
          <a:lstStyle/>
          <a:p>
            <a:pPr lvl="0"/>
            <a:r>
              <a:rPr lang="zh-CN" altLang="zh-CN" sz="2000" b="1" dirty="0">
                <a:latin typeface="+mj-lt"/>
              </a:rPr>
              <a:t>Approximation</a:t>
            </a:r>
            <a:r>
              <a:rPr lang="en-US" altLang="zh-CN" sz="2000" b="1" dirty="0">
                <a:latin typeface="+mj-lt"/>
              </a:rPr>
              <a:t> error</a:t>
            </a:r>
            <a:r>
              <a:rPr lang="zh-CN" altLang="zh-CN" sz="2000" b="1" dirty="0">
                <a:latin typeface="+mj-lt"/>
              </a:rPr>
              <a:t>:</a:t>
            </a:r>
            <a:r>
              <a:rPr lang="zh-CN" altLang="zh-CN" sz="2000" dirty="0">
                <a:latin typeface="+mj-lt"/>
              </a:rPr>
              <a:t> FW underestimates higher-order skewness..</a:t>
            </a:r>
            <a:endParaRPr lang="en-US" altLang="zh-CN" sz="2000" dirty="0">
              <a:latin typeface="+mj-lt"/>
            </a:endParaRPr>
          </a:p>
          <a:p>
            <a:pPr lvl="0"/>
            <a:r>
              <a:rPr lang="zh-CN" altLang="zh-CN" sz="2000" b="1" dirty="0">
                <a:latin typeface="+mj-lt"/>
              </a:rPr>
              <a:t>Convergence:</a:t>
            </a:r>
            <a:r>
              <a:rPr lang="zh-CN" altLang="zh-CN" sz="2000" dirty="0">
                <a:latin typeface="+mj-lt"/>
              </a:rPr>
              <a:t> High dispersion increases pathway overlap and weakens identifiability.</a:t>
            </a:r>
            <a:endParaRPr lang="en-US" altLang="zh-CN" sz="2000" dirty="0">
              <a:latin typeface="+mj-lt"/>
            </a:endParaRPr>
          </a:p>
          <a:p>
            <a:pPr lvl="0"/>
            <a:r>
              <a:rPr lang="zh-CN" altLang="zh-CN" sz="2000" b="1" dirty="0">
                <a:latin typeface="+mj-lt"/>
              </a:rPr>
              <a:t>Structure:</a:t>
            </a:r>
            <a:r>
              <a:rPr lang="zh-CN" altLang="zh-CN" sz="2000" dirty="0">
                <a:latin typeface="+mj-lt"/>
              </a:rPr>
              <a:t> Four pathways and independence assumptions may not capture complex outbreaks.</a:t>
            </a:r>
            <a:endParaRPr lang="en-US" altLang="zh-CN" sz="2000" dirty="0">
              <a:latin typeface="+mj-lt"/>
            </a:endParaRPr>
          </a:p>
          <a:p>
            <a:pPr lvl="0"/>
            <a:endParaRPr lang="zh-CN" altLang="zh-CN" sz="2000" dirty="0">
              <a:latin typeface="+mj-lt"/>
            </a:endParaRPr>
          </a:p>
          <a:p>
            <a:endParaRPr lang="zh-CN" altLang="en-US" dirty="0">
              <a:latin typeface="+mj-lt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377C937-FCED-5CEE-C508-FA4824ABB6BC}"/>
              </a:ext>
            </a:extLst>
          </p:cNvPr>
          <p:cNvSpPr txBox="1">
            <a:spLocks/>
          </p:cNvSpPr>
          <p:nvPr/>
        </p:nvSpPr>
        <p:spPr>
          <a:xfrm>
            <a:off x="838200" y="3272351"/>
            <a:ext cx="10515600" cy="89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/>
              <a:t>Future work</a:t>
            </a:r>
            <a:endParaRPr lang="zh-CN" altLang="en-US" sz="40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9D6C853-3863-9F7A-1221-E82A86CA86A7}"/>
              </a:ext>
            </a:extLst>
          </p:cNvPr>
          <p:cNvSpPr txBox="1">
            <a:spLocks/>
          </p:cNvSpPr>
          <p:nvPr/>
        </p:nvSpPr>
        <p:spPr>
          <a:xfrm>
            <a:off x="675968" y="4166627"/>
            <a:ext cx="11107994" cy="144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424884-E496-A0AA-50B6-7D44587E18D6}"/>
              </a:ext>
            </a:extLst>
          </p:cNvPr>
          <p:cNvSpPr txBox="1"/>
          <p:nvPr/>
        </p:nvSpPr>
        <p:spPr>
          <a:xfrm>
            <a:off x="838200" y="4166627"/>
            <a:ext cx="11107994" cy="16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lt"/>
              </a:rPr>
              <a:t>Develop SI distribution selection criteria: </a:t>
            </a:r>
            <a:r>
              <a:rPr lang="zh-CN" altLang="zh-CN" sz="2000" dirty="0">
                <a:latin typeface="+mj-lt"/>
              </a:rPr>
              <a:t>Evaluate methods such as smooth goodness-of-fit tests to help {mitey} users choose an appropriate Normal, Gamma, or Log-Normal SI model.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zh-CN" sz="2000" b="1" dirty="0">
                <a:latin typeface="+mj-lt"/>
              </a:rPr>
              <a:t>Extend the pathway structure: </a:t>
            </a:r>
            <a:r>
              <a:rPr lang="zh-CN" altLang="zh-CN" sz="2000" dirty="0">
                <a:latin typeface="+mj-lt"/>
              </a:rPr>
              <a:t>Determine when higher-generation transmission paths are warranted and how to add them while preserving epidemiological plausibility and model identifiability.</a:t>
            </a:r>
          </a:p>
          <a:p>
            <a:endParaRPr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01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1978</Words>
  <Application>Microsoft Office PowerPoint</Application>
  <PresentationFormat>宽屏</PresentationFormat>
  <Paragraphs>242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Cambria Math</vt:lpstr>
      <vt:lpstr>Times New Roman</vt:lpstr>
      <vt:lpstr>Office 主题​​</vt:lpstr>
      <vt:lpstr>Estimating Serial Intervals from Outbreak Symptom Onset Data</vt:lpstr>
      <vt:lpstr>Introduction</vt:lpstr>
      <vt:lpstr>Existing Framework (Vink et al.)</vt:lpstr>
      <vt:lpstr>Lognormal Extension &amp; Path update in Mixture model</vt:lpstr>
      <vt:lpstr>Simulation design</vt:lpstr>
      <vt:lpstr>PowerPoint 演示文稿</vt:lpstr>
      <vt:lpstr>EM algorithm (computational optimization)</vt:lpstr>
      <vt:lpstr>Simulation result</vt:lpstr>
      <vt:lpstr>Simulation result</vt:lpstr>
      <vt:lpstr>Data analysis (Scabies dataset)</vt:lpstr>
      <vt:lpstr>Code Implementation (mitey package)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潘远 薛</dc:creator>
  <cp:lastModifiedBy>潘远 薛</cp:lastModifiedBy>
  <cp:revision>17</cp:revision>
  <dcterms:created xsi:type="dcterms:W3CDTF">2026-09-30T15:00:43Z</dcterms:created>
  <dcterms:modified xsi:type="dcterms:W3CDTF">2026-09-30T21:10:00Z</dcterms:modified>
</cp:coreProperties>
</file>